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3da8fcc3cc14df8" /><Relationship Type="http://schemas.openxmlformats.org/officeDocument/2006/relationships/extended-properties" Target="/docProps/app.xml" Id="Rc5a5d9a2a618432d" /><Relationship Type="http://schemas.openxmlformats.org/officeDocument/2006/relationships/officeDocument" Target="/ppt/presentation.xml" Id="R613950621ef943d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ba60ba8b1eb4e7d"/>
  </p:sldMasterIdLst>
  <p:notesMasterIdLst>
    <p:notesMasterId xmlns:r="http://schemas.openxmlformats.org/officeDocument/2006/relationships" r:id="Rcd5ff5c737b3435a"/>
  </p:notesMasterIdLst>
  <p:sldIdLst>
    <p:sldId xmlns:r="http://schemas.openxmlformats.org/officeDocument/2006/relationships" id="256" r:id="R5ca943f2ca684dd2"/>
    <p:sldId xmlns:r="http://schemas.openxmlformats.org/officeDocument/2006/relationships" id="257" r:id="R1d1f71743dd34333"/>
    <p:sldId xmlns:r="http://schemas.openxmlformats.org/officeDocument/2006/relationships" id="258" r:id="Rf1cd323786564c5c"/>
    <p:sldId xmlns:r="http://schemas.openxmlformats.org/officeDocument/2006/relationships" id="259" r:id="Rabb850589ff54f84"/>
    <p:sldId xmlns:r="http://schemas.openxmlformats.org/officeDocument/2006/relationships" id="260" r:id="Re6984e7aec764368"/>
    <p:sldId xmlns:r="http://schemas.openxmlformats.org/officeDocument/2006/relationships" id="261" r:id="Rdd929d77e23f4f84"/>
    <p:sldId xmlns:r="http://schemas.openxmlformats.org/officeDocument/2006/relationships" id="262" r:id="Rc092ab0851fd4521"/>
    <p:sldId xmlns:r="http://schemas.openxmlformats.org/officeDocument/2006/relationships" id="263" r:id="R5adc8ab293cc45c1"/>
    <p:sldId xmlns:r="http://schemas.openxmlformats.org/officeDocument/2006/relationships" id="264" r:id="Rdf58a9fe132a45a0"/>
    <p:sldId xmlns:r="http://schemas.openxmlformats.org/officeDocument/2006/relationships" id="265" r:id="R2ccd83415770486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a60ba8b1eb4e7d" /><Relationship Type="http://schemas.openxmlformats.org/officeDocument/2006/relationships/theme" Target="/ppt/theme/theme1.xml" Id="Rcbbc390855cb4b72" /><Relationship Type="http://schemas.openxmlformats.org/officeDocument/2006/relationships/notesMaster" Target="/ppt/notesMasters/notesMaster1.xml" Id="Rcd5ff5c737b3435a" /><Relationship Type="http://schemas.openxmlformats.org/officeDocument/2006/relationships/presProps" Target="/ppt/presProps.xml" Id="Rfa8089f7317b47c0" /><Relationship Type="http://schemas.openxmlformats.org/officeDocument/2006/relationships/viewProps" Target="/ppt/viewProps.xml" Id="Rcb1dcf0f1900494a" /><Relationship Type="http://schemas.openxmlformats.org/officeDocument/2006/relationships/tableStyles" Target="/ppt/tableStyles.xml" Id="Rc772b09e10094708" /><Relationship Type="http://schemas.openxmlformats.org/officeDocument/2006/relationships/slide" Target="/ppt/slides/slide1.xml" Id="R5ca943f2ca684dd2" /><Relationship Type="http://schemas.openxmlformats.org/officeDocument/2006/relationships/slide" Target="/ppt/slides/slide2.xml" Id="R1d1f71743dd34333" /><Relationship Type="http://schemas.openxmlformats.org/officeDocument/2006/relationships/slide" Target="/ppt/slides/slide3.xml" Id="Rf1cd323786564c5c" /><Relationship Type="http://schemas.openxmlformats.org/officeDocument/2006/relationships/slide" Target="/ppt/slides/slide4.xml" Id="Rabb850589ff54f84" /><Relationship Type="http://schemas.openxmlformats.org/officeDocument/2006/relationships/slide" Target="/ppt/slides/slide5.xml" Id="Re6984e7aec764368" /><Relationship Type="http://schemas.openxmlformats.org/officeDocument/2006/relationships/slide" Target="/ppt/slides/slide6.xml" Id="Rdd929d77e23f4f84" /><Relationship Type="http://schemas.openxmlformats.org/officeDocument/2006/relationships/slide" Target="/ppt/slides/slide7.xml" Id="Rc092ab0851fd4521" /><Relationship Type="http://schemas.openxmlformats.org/officeDocument/2006/relationships/slide" Target="/ppt/slides/slide8.xml" Id="R5adc8ab293cc45c1" /><Relationship Type="http://schemas.openxmlformats.org/officeDocument/2006/relationships/slide" Target="/ppt/slides/slide9.xml" Id="Rdf58a9fe132a45a0" /><Relationship Type="http://schemas.openxmlformats.org/officeDocument/2006/relationships/slide" Target="/ppt/slides/slide10.xml" Id="R2ccd83415770486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9bac23cdffe04f4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2378f04307244d1" /><Relationship Type="http://schemas.openxmlformats.org/officeDocument/2006/relationships/notesMaster" Target="/ppt/notesMasters/notesMaster1.xml" Id="Ra983879a1313443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5f67276132440a5" /><Relationship Type="http://schemas.openxmlformats.org/officeDocument/2006/relationships/notesMaster" Target="/ppt/notesMasters/notesMaster1.xml" Id="R7086ba1f5d4647c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fc61337061e4b9d" /><Relationship Type="http://schemas.openxmlformats.org/officeDocument/2006/relationships/notesMaster" Target="/ppt/notesMasters/notesMaster1.xml" Id="Re49c261c8383401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71044ec1f1241cb" /><Relationship Type="http://schemas.openxmlformats.org/officeDocument/2006/relationships/notesMaster" Target="/ppt/notesMasters/notesMaster1.xml" Id="Rfeb326fb13c44ca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e04391c5ede4ae8" /><Relationship Type="http://schemas.openxmlformats.org/officeDocument/2006/relationships/notesMaster" Target="/ppt/notesMasters/notesMaster1.xml" Id="R1e56ded0831a48c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6383184a7a14b44" /><Relationship Type="http://schemas.openxmlformats.org/officeDocument/2006/relationships/notesMaster" Target="/ppt/notesMasters/notesMaster1.xml" Id="R137763300d5d4a3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8b8701446dc4c63" /><Relationship Type="http://schemas.openxmlformats.org/officeDocument/2006/relationships/notesMaster" Target="/ppt/notesMasters/notesMaster1.xml" Id="Rd38c3b37975b4b2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c3ff93ad2344cb1" /><Relationship Type="http://schemas.openxmlformats.org/officeDocument/2006/relationships/notesMaster" Target="/ppt/notesMasters/notesMaster1.xml" Id="R57352b85896a472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7a3ad467b6f4519" /><Relationship Type="http://schemas.openxmlformats.org/officeDocument/2006/relationships/notesMaster" Target="/ppt/notesMasters/notesMaster1.xml" Id="Rc17ad071a114474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392fc43aa9f45b9" /><Relationship Type="http://schemas.openxmlformats.org/officeDocument/2006/relationships/notesMaster" Target="/ppt/notesMasters/notesMaster1.xml" Id="R4f24cfd10b8d402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341135bdc54062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0d5268ba05ed4476" /><Relationship Type="http://schemas.openxmlformats.org/officeDocument/2006/relationships/slideLayout" Target="/ppt/slideLayouts/slideLayout2.xml" Id="R1aaaeee479644c9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aaaeee479644c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0791fc36f94604" /><Relationship Type="http://schemas.openxmlformats.org/officeDocument/2006/relationships/notesSlide" Target="/ppt/notesSlides/notesSlide1.xml" Id="Ra70d7f874faa472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aceadec52f40f5" /><Relationship Type="http://schemas.openxmlformats.org/officeDocument/2006/relationships/notesSlide" Target="/ppt/notesSlides/notesSlide2.xml" Id="R513fb6404443498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93534a73ec47c6" /><Relationship Type="http://schemas.openxmlformats.org/officeDocument/2006/relationships/notesSlide" Target="/ppt/notesSlides/notesSlide3.xml" Id="R39f5c7e959764a2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e75c70660d4d42" /><Relationship Type="http://schemas.openxmlformats.org/officeDocument/2006/relationships/image" Target="/ppt/media/image.png" Id="Rb091724486c34d88" /><Relationship Type="http://schemas.openxmlformats.org/officeDocument/2006/relationships/notesSlide" Target="/ppt/notesSlides/notesSlide4.xml" Id="R66b6416470224b6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e895a764cb40c4" /><Relationship Type="http://schemas.openxmlformats.org/officeDocument/2006/relationships/image" Target="/ppt/media/image2.png" Id="R956ae3663c394e86" /><Relationship Type="http://schemas.openxmlformats.org/officeDocument/2006/relationships/image" Target="/ppt/media/image3.png" Id="R71a0afd32bc94276" /><Relationship Type="http://schemas.openxmlformats.org/officeDocument/2006/relationships/image" Target="/ppt/media/image4.png" Id="R82019620499c4c1b" /><Relationship Type="http://schemas.openxmlformats.org/officeDocument/2006/relationships/notesSlide" Target="/ppt/notesSlides/notesSlide5.xml" Id="Rf4483a881f1c4b0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e25145fe944110" /><Relationship Type="http://schemas.openxmlformats.org/officeDocument/2006/relationships/image" Target="/ppt/media/image5.png" Id="R4837a75a89334c19" /><Relationship Type="http://schemas.openxmlformats.org/officeDocument/2006/relationships/notesSlide" Target="/ppt/notesSlides/notesSlide6.xml" Id="R6409132a2517480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1c14eac3904c40" /><Relationship Type="http://schemas.openxmlformats.org/officeDocument/2006/relationships/image" Target="/ppt/media/image6.png" Id="R676cc97586704978" /><Relationship Type="http://schemas.openxmlformats.org/officeDocument/2006/relationships/notesSlide" Target="/ppt/notesSlides/notesSlide7.xml" Id="R589d70c91cea423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53ae7ae08f4c5a" /><Relationship Type="http://schemas.openxmlformats.org/officeDocument/2006/relationships/image" Target="/ppt/media/image7.png" Id="R45d36e4785754ba9" /><Relationship Type="http://schemas.openxmlformats.org/officeDocument/2006/relationships/image" Target="/ppt/media/image8.png" Id="R398f8946f9384457" /><Relationship Type="http://schemas.openxmlformats.org/officeDocument/2006/relationships/notesSlide" Target="/ppt/notesSlides/notesSlide8.xml" Id="Rbc36a981725649d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a0fc6d254644a6" /><Relationship Type="http://schemas.openxmlformats.org/officeDocument/2006/relationships/notesSlide" Target="/ppt/notesSlides/notesSlide9.xml" Id="R1ff955847278454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1241a0b7744fe2" /><Relationship Type="http://schemas.openxmlformats.org/officeDocument/2006/relationships/notesSlide" Target="/ppt/notesSlides/notesSlide10.xml" Id="R58d2ed8ad54647a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17A4C6-DD6D-4FBE-AD2B-4C838128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4A4EC5-5413-4BC0-B48D-DD630F39C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0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C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E0581D-0A70-4920-B6E9-BD70B4E8D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33581B-1B70-418F-85C3-6985E2E3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858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TransitAI UTM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0769A3-771E-4DA6-9F25-6E4C6F39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09700"/>
            <a:ext cx="2762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E9B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FE9B0"/>
                </a:solidFill>
                <a:latin typeface="Aptos"/>
                <a:ea typeface="Aptos"/>
                <a:cs typeface="Aptos"/>
              </a:rPr>
              <a:t>Campus transport chatbot prototype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F57E24-D7F5-440D-9DED-0153E0B0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0"/>
            <a:ext cx="2714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MECS0033-52 Artificial Intelligence</a:t>
            </a:r>
          </a:p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Group 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1DEEC6-658B-4E11-A363-CAC9F138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838200"/>
            <a:ext cx="6191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E2330"/>
                </a:solidFill>
                <a:latin typeface="Aptos"/>
                <a:ea typeface="Aptos"/>
                <a:cs typeface="Aptos"/>
              </a:rPr>
              <a:t>Teacher-facing demo deck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54930E-AD38-4406-A641-1D42391F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695450"/>
            <a:ext cx="6096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B6270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5B6270"/>
                </a:solidFill>
                <a:latin typeface="Aptos"/>
                <a:ea typeface="Aptos"/>
                <a:cs typeface="Aptos"/>
              </a:rPr>
              <a:t>Shows exactly how the prototype meets the rubric: interactive screen, problem solving, and administrator manual support.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134F1C-C2FA-4489-B34F-EA28FA8D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619500"/>
            <a:ext cx="581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8"/>
          </a:solidFill>
          <a:ln xmlns:a="http://schemas.openxmlformats.org/drawingml/2006/main" w="9525">
            <a:solidFill>
              <a:srgbClr val="F2A9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EFCF0C-4DD2-4250-94B0-10251031A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73380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A0C2E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0C2E"/>
                </a:solidFill>
                <a:latin typeface="Aptos"/>
                <a:ea typeface="Aptos"/>
                <a:cs typeface="Aptos"/>
              </a:rPr>
              <a:t>Interactive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ABEC51-D4FF-45A8-8368-0D53F73A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733800"/>
            <a:ext cx="3762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Free text, quick actions, phone UI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A5CB6A-6FF1-40F3-B4D9-559F1E389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305300"/>
            <a:ext cx="581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8"/>
          </a:solidFill>
          <a:ln xmlns:a="http://schemas.openxmlformats.org/drawingml/2006/main" w="9525">
            <a:solidFill>
              <a:srgbClr val="F2A9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A73A30-D957-4FC3-8F02-66F6FAB28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41960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A0C2E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0C2E"/>
                </a:solidFill>
                <a:latin typeface="Aptos"/>
                <a:ea typeface="Aptos"/>
                <a:cs typeface="Aptos"/>
              </a:rPr>
              <a:t>AI evidence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9389A2-2FB4-4D44-86F0-07F2E2DDD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419600"/>
            <a:ext cx="3762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Intent confidence, RAG-style retrieval, proof trace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017858-5D53-4DC6-871E-056C07153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991100"/>
            <a:ext cx="581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8"/>
          </a:solidFill>
          <a:ln xmlns:a="http://schemas.openxmlformats.org/drawingml/2006/main" w="9525">
            <a:solidFill>
              <a:srgbClr val="F2A9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F187B0-02D2-4145-B0E9-8DD7844F6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10540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7A0C2E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0C2E"/>
                </a:solidFill>
                <a:latin typeface="Aptos"/>
                <a:ea typeface="Aptos"/>
                <a:cs typeface="Aptos"/>
              </a:rPr>
              <a:t>Truthful data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14214B-1190-44AC-A8C4-83181207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105400"/>
            <a:ext cx="3762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Public route labels + simulated timing boundary</a:t>
            </a:r>
          </a:p>
        </p:txBody>
      </p:sp>
    </p:spTree>
    <p:extLst>
      <p:ext uri="{BB962C8B-B14F-4D97-AF65-F5344CB8AC3E}">
        <p14:creationId xmlns:p14="http://schemas.microsoft.com/office/powerpoint/2010/main" val="6467930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239E6A-D441-428A-825D-26FA555F9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C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3BF312-FE8C-4C9A-98E2-5084EF695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429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21A6FC-6058-41CE-A284-B345C261E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Rubric fit: high-score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2627E5-90CF-49AB-93DE-ECA981680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5717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FE9B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E9B0"/>
                </a:solidFill>
                <a:latin typeface="Aptos"/>
                <a:ea typeface="Aptos"/>
                <a:cs typeface="Aptos"/>
              </a:rPr>
              <a:t>TransitAI UTM Prototype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A5BC6C-EC22-42F1-82CD-D91E85C1B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33337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FE4EAF-365B-47F7-B1DB-49BD810D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66675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C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152AFD-A01A-450A-A6C9-C32693264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43025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7A0C2E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7A0C2E"/>
                </a:solidFill>
                <a:latin typeface="Aptos"/>
                <a:ea typeface="Aptos"/>
                <a:cs typeface="Aptos"/>
              </a:rPr>
              <a:t>Originality / Interactive Screen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00CD42-95B3-4246-878C-96D8D00E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85925"/>
            <a:ext cx="2914650" cy="1362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Phone-frame app with real inputs and outputs</a:t>
            </a:r>
          </a:p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Intent confidence visible to marker</a:t>
            </a:r>
          </a:p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RAG-style source panel</a:t>
            </a:r>
          </a:p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Resolution proof is tied to the report logic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1AC461-5905-447D-A0F9-288B7039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190625"/>
            <a:ext cx="33337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AB7234-1BA3-4FDC-8014-5D0C0A47E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190625"/>
            <a:ext cx="66675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A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4B2754-0185-4FEC-B119-810351109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1343025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38A5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38A52"/>
                </a:solidFill>
                <a:latin typeface="Aptos"/>
                <a:ea typeface="Aptos"/>
                <a:cs typeface="Aptos"/>
              </a:rPr>
              <a:t>Problem Solving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447F2E-8505-471E-BEDC-38AF49B48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1685925"/>
            <a:ext cx="2914650" cy="1362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Schedule uncertainty</a:t>
            </a:r>
          </a:p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Route confusion</a:t>
            </a:r>
          </a:p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Arrival uncertainty</a:t>
            </a:r>
          </a:p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Delay notification gap</a:t>
            </a:r>
          </a:p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Feedback / escalation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4FA41E-A076-4D59-B4D7-6979E433C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190625"/>
            <a:ext cx="33337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2B7BD7-57E5-4377-8505-49DFDF352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190625"/>
            <a:ext cx="66675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B234CF-F302-43EB-B342-893206A1B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343025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2A90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2A900"/>
                </a:solidFill>
                <a:latin typeface="Aptos"/>
                <a:ea typeface="Aptos"/>
                <a:cs typeface="Aptos"/>
              </a:rPr>
              <a:t>Admin Manual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9AF707-BEE8-42C9-8504-67558FB0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685925"/>
            <a:ext cx="2914650" cy="1362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Component/function map</a:t>
            </a:r>
          </a:p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Data-source truth policy</a:t>
            </a:r>
          </a:p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Configuration guide</a:t>
            </a:r>
          </a:p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Screenshots and troubleshooting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D4D0EB-3A2D-4A75-A6CC-05EAF6E99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10477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E2330"/>
                </a:solidFill>
                <a:latin typeface="Aptos"/>
                <a:ea typeface="Aptos"/>
                <a:cs typeface="Aptos"/>
              </a:rPr>
              <a:t>Main scoring risk reduced: the prototype now clearly labels what is public route data and what is simulated POC behavior. The demo-time control prevents night presentation from making every route look closed.</a:t>
            </a:r>
          </a:p>
        </p:txBody>
      </p:sp>
    </p:spTree>
    <p:extLst>
      <p:ext uri="{BB962C8B-B14F-4D97-AF65-F5344CB8AC3E}">
        <p14:creationId xmlns:p14="http://schemas.microsoft.com/office/powerpoint/2010/main" val="63910637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3B0522-AC78-43F2-BDCB-AC82631EF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C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46C758-5D48-4B05-855F-695018A6F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429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EC34C5-EE90-47EA-B4D8-94AA94CB3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 truth policy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214276-D836-4263-915A-BB049A4A7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5717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FE9B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E9B0"/>
                </a:solidFill>
                <a:latin typeface="Aptos"/>
                <a:ea typeface="Aptos"/>
                <a:cs typeface="Aptos"/>
              </a:rPr>
              <a:t>TransitAI UTM Prototype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89DD09-8FB5-475C-9312-57F2C8B1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85875"/>
            <a:ext cx="10668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CB1235-B2F1-4687-A01C-F3FB67319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41922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38A5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38A52"/>
                </a:solidFill>
                <a:latin typeface="Aptos"/>
                <a:ea typeface="Aptos"/>
                <a:cs typeface="Aptos"/>
              </a:rPr>
              <a:t>Public route listing aligned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7BCE56-A5F2-46A9-9328-E23748159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419225"/>
            <a:ext cx="7143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BAS A/B/C/D/E/F/G/H labels and public stop sequences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17898E-30BA-4131-989E-572103740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10668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F4ED47-2240-4853-A264-3B30E1B7A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24100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38A5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38A52"/>
                </a:solidFill>
                <a:latin typeface="Aptos"/>
                <a:ea typeface="Aptos"/>
                <a:cs typeface="Aptos"/>
              </a:rPr>
              <a:t>Public stop labels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65742E-A10C-4E59-B9CB-3EE8A512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24100"/>
            <a:ext cx="7143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CP, KTDI, KTHO, KTR, KDOJ, N24, P19, T02, T08, V01, etc.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A1A459-2BFD-4C61-82E8-6F22136D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95625"/>
            <a:ext cx="10668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942273-26E0-49A5-A5DE-4FF6CF298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2289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2A90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2A900"/>
                </a:solidFill>
                <a:latin typeface="Aptos"/>
                <a:ea typeface="Aptos"/>
                <a:cs typeface="Aptos"/>
              </a:rPr>
              <a:t>Prototype mappings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6CD89C-7522-44C8-BDFA-5B695A1E3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228975"/>
            <a:ext cx="7143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FC → N24 / Cluster Area; FKE → P19 / FKE Area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07B5D1-D340-4DD3-9011-3A5A1B5AE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0"/>
            <a:ext cx="10668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A0BC29-8299-4FD4-BBE7-30F934F43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133850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2A90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2A900"/>
                </a:solidFill>
                <a:latin typeface="Aptos"/>
                <a:ea typeface="Aptos"/>
                <a:cs typeface="Aptos"/>
              </a:rPr>
              <a:t>Simulated POC data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52CC26-32D7-4D72-BBA0-FB171A616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133850"/>
            <a:ext cx="7143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Next departure, operating hours, headway, live arrival ETA, delay status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FDC9E1-AA07-4925-916B-8C4530C28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286375"/>
            <a:ext cx="10382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A0C2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7A0C2E"/>
                </a:solidFill>
                <a:latin typeface="Aptos"/>
                <a:ea typeface="Aptos"/>
                <a:cs typeface="Aptos"/>
              </a:rPr>
              <a:t>Presentation wording: “Route names and stop sequences follow public UTM/KDOJ listings where available. Timetable/ETA values are simulated because no live verified feed is connected to this 10% POC.”</a:t>
            </a:r>
          </a:p>
        </p:txBody>
      </p:sp>
    </p:spTree>
    <p:extLst>
      <p:ext uri="{BB962C8B-B14F-4D97-AF65-F5344CB8AC3E}">
        <p14:creationId xmlns:p14="http://schemas.microsoft.com/office/powerpoint/2010/main" val="12831666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9ABC33-4AB5-493C-A34E-22A22BCA7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C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F426B0-6554-4171-BD2A-20216785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429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AFF7DF-C47A-4E49-92A8-06AB7CF33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Prototype first screen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A1D738-2838-4D54-8BE3-9D82BE48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5717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FE9B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E9B0"/>
                </a:solidFill>
                <a:latin typeface="Aptos"/>
                <a:ea typeface="Aptos"/>
                <a:cs typeface="Aptos"/>
              </a:rPr>
              <a:t>TransitAI UTM Prototype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91724486c34d88"/>
          <a:stretch xmlns:a="http://schemas.openxmlformats.org/drawingml/2006/main"/>
        </p:blipFill>
        <p:spPr>
          <a:xfrm xmlns:a="http://schemas.openxmlformats.org/drawingml/2006/main">
            <a:off x="685800" y="1350764"/>
            <a:ext cx="7239000" cy="4727972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131810-2653-4175-AC19-58A439D0B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B62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270"/>
                </a:solidFill>
                <a:latin typeface="Aptos"/>
                <a:ea typeface="Aptos"/>
                <a:cs typeface="Aptos"/>
              </a:rPr>
              <a:t>Home/chat, quick actions and AI pipeline panel.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1FD23D-918C-43CF-A232-39820B80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381125"/>
            <a:ext cx="30003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8A8007-C536-46CE-9560-84EB03396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381125"/>
            <a:ext cx="666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C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98CBB2-37D3-448E-BF99-B32C4B0EA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533525"/>
            <a:ext cx="25812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7A0C2E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7A0C2E"/>
                </a:solidFill>
                <a:latin typeface="Aptos"/>
                <a:ea typeface="Aptos"/>
                <a:cs typeface="Aptos"/>
              </a:rPr>
              <a:t>What to point out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1FACCA-BC4B-4C65-A311-0FBA569F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876425"/>
            <a:ext cx="258127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Phone status time now visible</a:t>
            </a:r>
          </a:p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No install, no backend</a:t>
            </a:r>
          </a:p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Input and output shown immediately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1081C7-19E5-4F37-9C00-C06BA770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190875"/>
            <a:ext cx="30003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A3195F-4533-4151-9096-D2021F76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190875"/>
            <a:ext cx="666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485238-5ED8-4B71-80F1-1CB3A108E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343275"/>
            <a:ext cx="25812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2A90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2A900"/>
                </a:solidFill>
                <a:latin typeface="Aptos"/>
                <a:ea typeface="Aptos"/>
                <a:cs typeface="Aptos"/>
              </a:rPr>
              <a:t>AI visibility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DE91B0-57E9-459A-A7C0-D91404B1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686175"/>
            <a:ext cx="25812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Intent recognition</a:t>
            </a:r>
          </a:p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Knowledge retrieval</a:t>
            </a:r>
          </a:p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Grounded response</a:t>
            </a:r>
          </a:p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Source note</a:t>
            </a:r>
          </a:p>
        </p:txBody>
      </p:sp>
    </p:spTree>
    <p:extLst>
      <p:ext uri="{BB962C8B-B14F-4D97-AF65-F5344CB8AC3E}">
        <p14:creationId xmlns:p14="http://schemas.microsoft.com/office/powerpoint/2010/main" val="4397575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B6A8A2-299D-4407-92C4-203956EAA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C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3F69BD-9C29-4E4E-BAF2-B74DAECC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429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A95983-5554-439F-874F-173665FE2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Student flows: schedule, route, arrival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E21B47-FF73-4F6B-BC27-CE70BEB5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5717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FE9B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E9B0"/>
                </a:solidFill>
                <a:latin typeface="Aptos"/>
                <a:ea typeface="Aptos"/>
                <a:cs typeface="Aptos"/>
              </a:rPr>
              <a:t>TransitAI UTM Prototype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6ae3663c394e86"/>
          <a:stretch xmlns:a="http://schemas.openxmlformats.org/drawingml/2006/main"/>
        </p:blipFill>
        <p:spPr>
          <a:xfrm xmlns:a="http://schemas.openxmlformats.org/drawingml/2006/main">
            <a:off x="523875" y="1218605"/>
            <a:ext cx="3429000" cy="2239566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FDE44F-A824-4195-B090-B102C507A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609975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B62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270"/>
                </a:solidFill>
                <a:latin typeface="Aptos"/>
                <a:ea typeface="Aptos"/>
                <a:cs typeface="Aptos"/>
              </a:rPr>
              <a:t>Schedule: demo time + source note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a0afd32bc94276"/>
          <a:stretch xmlns:a="http://schemas.openxmlformats.org/drawingml/2006/main"/>
        </p:blipFill>
        <p:spPr>
          <a:xfrm xmlns:a="http://schemas.openxmlformats.org/drawingml/2006/main">
            <a:off x="4381500" y="1218605"/>
            <a:ext cx="3429000" cy="2239566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2FB5DE-0157-46C4-8F2D-85425FD1E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09975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B62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270"/>
                </a:solidFill>
                <a:latin typeface="Aptos"/>
                <a:ea typeface="Aptos"/>
                <a:cs typeface="Aptos"/>
              </a:rPr>
              <a:t>Route: BAS G stop sequence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019620499c4c1b"/>
          <a:stretch xmlns:a="http://schemas.openxmlformats.org/drawingml/2006/main"/>
        </p:blipFill>
        <p:spPr>
          <a:xfrm xmlns:a="http://schemas.openxmlformats.org/drawingml/2006/main">
            <a:off x="8239125" y="1218605"/>
            <a:ext cx="3429000" cy="2239566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A198E2-1EDA-4AA7-9C5F-1C00B3B1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609975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B62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270"/>
                </a:solidFill>
                <a:latin typeface="Aptos"/>
                <a:ea typeface="Aptos"/>
                <a:cs typeface="Aptos"/>
              </a:rPr>
              <a:t>Arrival: simulated ETA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7EE8F5-33A2-41F3-A51D-0BAEAB060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238625"/>
            <a:ext cx="10382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E2330"/>
                </a:solidFill>
                <a:latin typeface="Aptos"/>
                <a:ea typeface="Aptos"/>
                <a:cs typeface="Aptos"/>
              </a:rPr>
              <a:t>The marker sees the real problem being solved: students can ask natural questions instead of searching static notices. Each answer states the data source and simulation boundary.</a:t>
            </a:r>
          </a:p>
        </p:txBody>
      </p:sp>
    </p:spTree>
    <p:extLst>
      <p:ext uri="{BB962C8B-B14F-4D97-AF65-F5344CB8AC3E}">
        <p14:creationId xmlns:p14="http://schemas.microsoft.com/office/powerpoint/2010/main" val="6833510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ADC665-A24C-401A-8A2E-31E9021C4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C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F2C098-2680-46A4-AC72-3B6ADADA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429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F19224-1336-43DC-AF0A-4448DEB2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Staff Demo time control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CA3E2B-94AA-4E34-8AC5-EBF2CBF9E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5717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FE9B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E9B0"/>
                </a:solidFill>
                <a:latin typeface="Aptos"/>
                <a:ea typeface="Aptos"/>
                <a:cs typeface="Aptos"/>
              </a:rPr>
              <a:t>TransitAI UTM Prototype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37a75a89334c19"/>
          <a:stretch xmlns:a="http://schemas.openxmlformats.org/drawingml/2006/main"/>
        </p:blipFill>
        <p:spPr>
          <a:xfrm xmlns:a="http://schemas.openxmlformats.org/drawingml/2006/main">
            <a:off x="742950" y="1526232"/>
            <a:ext cx="6191250" cy="404366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18CE24-B922-4650-89BD-CB0D3ECF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10275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B62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270"/>
                </a:solidFill>
                <a:latin typeface="Aptos"/>
                <a:ea typeface="Aptos"/>
                <a:cs typeface="Aptos"/>
              </a:rPr>
              <a:t>Staff Demo controls with fixed demo time.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EDBCA0-EBC8-404D-8A03-1C3151A16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333500"/>
            <a:ext cx="33337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97D4CE-2974-4329-9E68-B5E91AA27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333500"/>
            <a:ext cx="6667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C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A853A8-D158-4898-9FC1-8A465D08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48590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7A0C2E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7A0C2E"/>
                </a:solidFill>
                <a:latin typeface="Aptos"/>
                <a:ea typeface="Aptos"/>
                <a:cs typeface="Aptos"/>
              </a:rPr>
              <a:t>Why it was added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5338D6-1C4C-46D2-B4EF-CCD30A212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828800"/>
            <a:ext cx="2914650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At night, live device time makes route cards show “closed now.” Demo time gives repeatable morning/lunch/evening/night scenarios.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2D2CD9-E204-48F1-9B45-F66826D47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28950"/>
            <a:ext cx="33337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AB7883-C1D6-4CAA-8EBF-FD72DB43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28950"/>
            <a:ext cx="6667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A11DA1-AB65-4ECC-B1E2-6E4691D1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1813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2A90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2A900"/>
                </a:solidFill>
                <a:latin typeface="Aptos"/>
                <a:ea typeface="Aptos"/>
                <a:cs typeface="Aptos"/>
              </a:rPr>
              <a:t>How to demo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539995-E1BD-4B34-B7A8-12823B10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524250"/>
            <a:ext cx="2914650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Use 10:00 for normal service. Use 20:30 only when intentionally showing closed-service behavior.</a:t>
            </a:r>
          </a:p>
        </p:txBody>
      </p:sp>
    </p:spTree>
    <p:extLst>
      <p:ext uri="{BB962C8B-B14F-4D97-AF65-F5344CB8AC3E}">
        <p14:creationId xmlns:p14="http://schemas.microsoft.com/office/powerpoint/2010/main" val="11947724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71DB6B-CE88-4EDA-A40F-351D65241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C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179BBB-50A8-4F41-A564-AC795B5A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429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E9B848-8A1B-44E4-9599-622D82AEE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Originality highlight: resolution proof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41CAE3-DFBC-46C7-8F29-B0305BFE0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5717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FE9B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E9B0"/>
                </a:solidFill>
                <a:latin typeface="Aptos"/>
                <a:ea typeface="Aptos"/>
                <a:cs typeface="Aptos"/>
              </a:rPr>
              <a:t>TransitAI UTM Prototype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6cc97586704978"/>
          <a:stretch xmlns:a="http://schemas.openxmlformats.org/drawingml/2006/main"/>
        </p:blipFill>
        <p:spPr>
          <a:xfrm xmlns:a="http://schemas.openxmlformats.org/drawingml/2006/main">
            <a:off x="1217999" y="1095375"/>
            <a:ext cx="2612252" cy="5334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C0BE93-726E-4ECF-A5A7-4D6B994BA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486525"/>
            <a:ext cx="3333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B62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270"/>
                </a:solidFill>
                <a:latin typeface="Aptos"/>
                <a:ea typeface="Aptos"/>
                <a:cs typeface="Aptos"/>
              </a:rPr>
              <a:t>Proof trace crop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892FCC-1D7B-478C-A174-F8A1E9C4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333500"/>
            <a:ext cx="5905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F41B33-0A3A-477A-8205-5A8DDDB77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3335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A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7E5FA9-475E-4BCB-8151-C9638F63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485900"/>
            <a:ext cx="5486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38A5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38A52"/>
                </a:solidFill>
                <a:latin typeface="Aptos"/>
                <a:ea typeface="Aptos"/>
                <a:cs typeface="Aptos"/>
              </a:rPr>
              <a:t>What it proves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8DDF54-2823-48AE-BDAA-A7074D9C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828800"/>
            <a:ext cx="54864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From P1 WantsRouteAlert(ali, route_a), P2 Delayed(route_a), and rules P3/P4, the engine derives NotifyUser(ali, route_a, delay).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DB6610-6912-4FF6-8535-290161477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95625"/>
            <a:ext cx="5905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680BFF-DC2A-4859-A9E9-CD3484317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95625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C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2FF54F-86AD-4DF3-AD01-54228B73A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248025"/>
            <a:ext cx="5486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7A0C2E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7A0C2E"/>
                </a:solidFill>
                <a:latin typeface="Aptos"/>
                <a:ea typeface="Aptos"/>
                <a:cs typeface="Aptos"/>
              </a:rPr>
              <a:t>Why it is not just UI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D9C730-DECC-47E9-8BFA-8F6A4DF4E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590925"/>
            <a:ext cx="54864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Unification and resolution are computed by resolution.js. The proof only runs when the user is subscribed and the route is actually marked delayed in app state.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7EF634-ABEB-4C9D-B401-092393FF7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57750"/>
            <a:ext cx="5905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302F93-7F25-4DF6-BEC3-692888B3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5775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AB434E-35BD-4EE5-ABC0-4E3FE3F21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010150"/>
            <a:ext cx="5486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2A90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2A900"/>
                </a:solidFill>
                <a:latin typeface="Aptos"/>
                <a:ea typeface="Aptos"/>
                <a:cs typeface="Aptos"/>
              </a:rPr>
              <a:t>Demo line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AF6190-DD0F-447E-9343-11AE213A3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353050"/>
            <a:ext cx="5486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“This proof matches Figure 5.2 in our report and drives the Alerts screen.”</a:t>
            </a:r>
          </a:p>
        </p:txBody>
      </p:sp>
    </p:spTree>
    <p:extLst>
      <p:ext uri="{BB962C8B-B14F-4D97-AF65-F5344CB8AC3E}">
        <p14:creationId xmlns:p14="http://schemas.microsoft.com/office/powerpoint/2010/main" val="125183776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BDF490-8E74-4D22-B715-D142E42FC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C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70CD31-1139-4347-9C56-8A1F6F77A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429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8ACBD7-63DB-4BAC-A4FC-99234FDE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Staff Demo outcome: alerts and feedback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57779B-421A-4D66-98BF-9CE9AC3F4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5717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FE9B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E9B0"/>
                </a:solidFill>
                <a:latin typeface="Aptos"/>
                <a:ea typeface="Aptos"/>
                <a:cs typeface="Aptos"/>
              </a:rPr>
              <a:t>TransitAI UTM Prototype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d36e4785754ba9"/>
          <a:stretch xmlns:a="http://schemas.openxmlformats.org/drawingml/2006/main"/>
        </p:blipFill>
        <p:spPr>
          <a:xfrm xmlns:a="http://schemas.openxmlformats.org/drawingml/2006/main">
            <a:off x="742950" y="1321296"/>
            <a:ext cx="4762500" cy="3110508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0A8F54-CFD3-40C2-89CF-FD022118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48200"/>
            <a:ext cx="476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B62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270"/>
                </a:solidFill>
                <a:latin typeface="Aptos"/>
                <a:ea typeface="Aptos"/>
                <a:cs typeface="Aptos"/>
              </a:rPr>
              <a:t>Alerts after proof-triggered delay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8f8946f9384457"/>
          <a:stretch xmlns:a="http://schemas.openxmlformats.org/drawingml/2006/main"/>
        </p:blipFill>
        <p:spPr>
          <a:xfrm xmlns:a="http://schemas.openxmlformats.org/drawingml/2006/main">
            <a:off x="6667500" y="1321296"/>
            <a:ext cx="4762500" cy="311050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564864-58BF-474A-B6DE-88FE97AE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476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5B627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B6270"/>
                </a:solidFill>
                <a:latin typeface="Aptos"/>
                <a:ea typeface="Aptos"/>
                <a:cs typeface="Aptos"/>
              </a:rPr>
              <a:t>Feedback escalation 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C3E6C7-F3F0-474F-AB0F-8066DF638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334000"/>
            <a:ext cx="10001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E2330"/>
                </a:solidFill>
                <a:latin typeface="Aptos"/>
                <a:ea typeface="Aptos"/>
                <a:cs typeface="Aptos"/>
              </a:rPr>
              <a:t>These two screens close the loop for both user pain points: proactive delay notification and staff follow-up when information is wrong or incomplete.</a:t>
            </a:r>
          </a:p>
        </p:txBody>
      </p:sp>
    </p:spTree>
    <p:extLst>
      <p:ext uri="{BB962C8B-B14F-4D97-AF65-F5344CB8AC3E}">
        <p14:creationId xmlns:p14="http://schemas.microsoft.com/office/powerpoint/2010/main" val="4153129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943AF0-3E5C-4BD7-8A33-6A3D5994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C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0D3AF5-D1CC-4263-ADE1-8B7B682A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429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7F0E01-17C5-4064-8F38-EF2EA942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Architecture shown in the POC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13DEC2-F91F-49B1-9D63-FD26B3B0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5717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FE9B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E9B0"/>
                </a:solidFill>
                <a:latin typeface="Aptos"/>
                <a:ea typeface="Aptos"/>
                <a:cs typeface="Aptos"/>
              </a:rPr>
              <a:t>TransitAI UTM Prototype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A13F56-ABCD-4ACF-B5DD-4FBE63735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18097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8E3D0B-FFEE-4172-A8D4-8EC11A50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1504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A0C2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7A0C2E"/>
                </a:solidFill>
                <a:latin typeface="Aptos"/>
                <a:ea typeface="Aptos"/>
                <a:cs typeface="Aptos"/>
              </a:rPr>
              <a:t>User 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F3101A-D551-4FD6-BE96-09CD59CBE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28875"/>
            <a:ext cx="14668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Typed query or quick 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541066-1B57-4264-97CA-7CCDB602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209800"/>
            <a:ext cx="4286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2A90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2A900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E6CD6B-3B60-4508-A944-6CB437007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762125"/>
            <a:ext cx="18097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6871E9-BC79-42CC-B1D7-B5A08467A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000250"/>
            <a:ext cx="1504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A0C2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7A0C2E"/>
                </a:solidFill>
                <a:latin typeface="Aptos"/>
                <a:ea typeface="Aptos"/>
                <a:cs typeface="Aptos"/>
              </a:rPr>
              <a:t>Intent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EEE4C9-67B2-4A98-BFCF-5BEBD2F49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428875"/>
            <a:ext cx="14668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classify() + confidence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389870-FFA2-40B6-BBEB-4EF6BEC3E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209800"/>
            <a:ext cx="4286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2A90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2A900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B77977-64B0-487A-AE9F-B10F3138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62125"/>
            <a:ext cx="18097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B8C7F9-D763-4718-B1F1-143A0201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000250"/>
            <a:ext cx="1504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A0C2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7A0C2E"/>
                </a:solidFill>
                <a:latin typeface="Aptos"/>
                <a:ea typeface="Aptos"/>
                <a:cs typeface="Aptos"/>
              </a:rPr>
              <a:t>Retriever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BBE6D0-F7E3-4C49-AB5B-2C26ADEA7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428875"/>
            <a:ext cx="14668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Top KB chunks + source note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583DE2-9FB4-490E-9BA0-BE55DE58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209800"/>
            <a:ext cx="4286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2A90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2A900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46A95D-6807-4B1E-B2DF-BCE13AC3A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762125"/>
            <a:ext cx="18097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2EDCD0-011D-464D-A077-D06036CD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2000250"/>
            <a:ext cx="1504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A0C2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7A0C2E"/>
                </a:solidFill>
                <a:latin typeface="Aptos"/>
                <a:ea typeface="Aptos"/>
                <a:cs typeface="Aptos"/>
              </a:rPr>
              <a:t>Response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6A264E-3B3C-480F-B48E-0550518C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428875"/>
            <a:ext cx="14668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Grounded answer card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83080F-D72E-4EA4-82F1-C5C70959F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209800"/>
            <a:ext cx="4286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2A90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2A900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6345FB-EE08-4D12-812B-61A467BD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62125"/>
            <a:ext cx="18097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102529-443E-473E-B90A-CF3A954A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000250"/>
            <a:ext cx="1504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A0C2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7A0C2E"/>
                </a:solidFill>
                <a:latin typeface="Aptos"/>
                <a:ea typeface="Aptos"/>
                <a:cs typeface="Aptos"/>
              </a:rPr>
              <a:t>Staff proof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689D7B-8757-406A-A721-23F869D5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428875"/>
            <a:ext cx="14668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Resolution derives NotifyUser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BFC295-6EA8-4546-9408-465A732E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191000"/>
            <a:ext cx="101441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E2330"/>
                </a:solidFill>
                <a:latin typeface="Aptos"/>
                <a:ea typeface="Aptos"/>
                <a:cs typeface="Aptos"/>
              </a:rPr>
              <a:t>The side panel exposes the same pipeline live during the demo, so the grader can see the AI concept rather than only a static app screen.</a:t>
            </a:r>
          </a:p>
        </p:txBody>
      </p:sp>
    </p:spTree>
    <p:extLst>
      <p:ext uri="{BB962C8B-B14F-4D97-AF65-F5344CB8AC3E}">
        <p14:creationId xmlns:p14="http://schemas.microsoft.com/office/powerpoint/2010/main" val="120152554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FEFECF9-2BD9-445B-864C-5BD152C7B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C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835656-857D-42D2-A9A5-215CA2F53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429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A8F004-F11E-4239-B3CA-2101FE879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Demo checklist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3FC38D-98FA-4AEC-801A-B3050BF6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5717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FE9B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E9B0"/>
                </a:solidFill>
                <a:latin typeface="Aptos"/>
                <a:ea typeface="Aptos"/>
                <a:cs typeface="Aptos"/>
              </a:rPr>
              <a:t>TransitAI UTM Prototype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8AF1C2-D252-42CA-BF5C-B7C34C71B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38250"/>
            <a:ext cx="47148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8F31A4-13D7-41C8-B537-AE1A7097B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38250"/>
            <a:ext cx="666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C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982165-82FF-4566-92F9-E7C431769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390650"/>
            <a:ext cx="42957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7A0C2E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7A0C2E"/>
                </a:solidFill>
                <a:latin typeface="Aptos"/>
                <a:ea typeface="Aptos"/>
                <a:cs typeface="Aptos"/>
              </a:rPr>
              <a:t>Before presenting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14D219-AB53-41F8-8FE9-26214212E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733550"/>
            <a:ext cx="4295775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Open prototype/index.html or serve prototype folder at localhost:8000</a:t>
            </a:r>
          </a:p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Staff Demo -&gt; Demo time -&gt; 10:00</a:t>
            </a:r>
          </a:p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Keep the AI pipeline panel visible</a:t>
            </a:r>
          </a:p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Say timing/ETA are simulated POC data</a:t>
            </a:r>
          </a:p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Use BAS G example for KTDI to P19/FKE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F5DE62-CBBE-4551-A6E6-4F119F480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238250"/>
            <a:ext cx="47148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D27015-949F-4F5C-872C-A9885659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238250"/>
            <a:ext cx="666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A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A2B5DB-97FA-482C-9234-90BAF51E6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390650"/>
            <a:ext cx="42957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38A5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38A52"/>
                </a:solidFill>
                <a:latin typeface="Aptos"/>
                <a:ea typeface="Aptos"/>
                <a:cs typeface="Aptos"/>
              </a:rPr>
              <a:t>Scoring moments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05D9AB-2C23-46E1-B26F-C11F379B0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733550"/>
            <a:ext cx="4295775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Schedule card: source + time basis</a:t>
            </a:r>
          </a:p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Route card: stop sequence</a:t>
            </a:r>
          </a:p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Staff Demo: toggle BAS A delayed</a:t>
            </a:r>
          </a:p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Proof trace: empty clause</a:t>
            </a:r>
          </a:p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Alerts: notification appears</a:t>
            </a:r>
          </a:p>
          <a:p xmlns:a="http://schemas.openxmlformats.org/drawingml/2006/main">
            <a:pPr algn="l">
              <a:defRPr sz="1125" b="0">
                <a:solidFill>
                  <a:srgbClr val="1E23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330"/>
                </a:solidFill>
                <a:latin typeface="Aptos"/>
                <a:ea typeface="Aptos"/>
                <a:cs typeface="Aptos"/>
              </a:rPr>
              <a:t>• Manual: Word file has full process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965249-6BC8-46DD-A1D1-926259326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A0C2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7A0C2E"/>
                </a:solidFill>
                <a:latin typeface="Aptos"/>
                <a:ea typeface="Aptos"/>
                <a:cs typeface="Aptos"/>
              </a:rPr>
              <a:t>Final message: a reliable local POC with transparent data boundaries is stronger than a fragile live API demo.</a:t>
            </a:r>
          </a:p>
        </p:txBody>
      </p:sp>
    </p:spTree>
    <p:extLst>
      <p:ext uri="{BB962C8B-B14F-4D97-AF65-F5344CB8AC3E}">
        <p14:creationId xmlns:p14="http://schemas.microsoft.com/office/powerpoint/2010/main" val="21204741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2026-05-30T16:49:58.5330000Z</dcterms:created>
  <dcterms:modified xsi:type="dcterms:W3CDTF">2026-05-30T16:49:58.5330000Z</dcterms:modified>
</coreProperties>
</file>